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9" r:id="rId10"/>
    <p:sldId id="270" r:id="rId11"/>
    <p:sldId id="265" r:id="rId12"/>
    <p:sldId id="266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4D07A2-9D40-4F1C-AD37-E3E60A967D00}">
          <p14:sldIdLst>
            <p14:sldId id="256"/>
            <p14:sldId id="257"/>
            <p14:sldId id="258"/>
            <p14:sldId id="259"/>
            <p14:sldId id="261"/>
            <p14:sldId id="262"/>
            <p14:sldId id="263"/>
            <p14:sldId id="264"/>
            <p14:sldId id="269"/>
            <p14:sldId id="270"/>
            <p14:sldId id="265"/>
            <p14:sldId id="266"/>
            <p14:sldId id="267"/>
            <p14:sldId id="268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95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5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4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6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53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9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8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9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3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6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6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5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AF4B06-53F0-C847-8C21-2E98F1814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nnected sticks shaping polygons background">
            <a:extLst>
              <a:ext uri="{FF2B5EF4-FFF2-40B4-BE49-F238E27FC236}">
                <a16:creationId xmlns:a16="http://schemas.microsoft.com/office/drawing/2014/main" id="{4660F99B-452D-90FD-6DFA-241AFC783A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0016" b="5715"/>
          <a:stretch>
            <a:fillRect/>
          </a:stretch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F70A2C4-3347-EF31-F002-FB70BCCF4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344" y="938623"/>
            <a:ext cx="10369255" cy="4987842"/>
          </a:xfrm>
          <a:custGeom>
            <a:avLst/>
            <a:gdLst>
              <a:gd name="connsiteX0" fmla="*/ 0 w 4116027"/>
              <a:gd name="connsiteY0" fmla="*/ 0 h 5058263"/>
              <a:gd name="connsiteX1" fmla="*/ 3203647 w 4116027"/>
              <a:gd name="connsiteY1" fmla="*/ 0 h 5058263"/>
              <a:gd name="connsiteX2" fmla="*/ 3203647 w 4116027"/>
              <a:gd name="connsiteY2" fmla="*/ 1439014 h 5058263"/>
              <a:gd name="connsiteX3" fmla="*/ 4116027 w 4116027"/>
              <a:gd name="connsiteY3" fmla="*/ 1439014 h 5058263"/>
              <a:gd name="connsiteX4" fmla="*/ 4116027 w 4116027"/>
              <a:gd name="connsiteY4" fmla="*/ 5058263 h 5058263"/>
              <a:gd name="connsiteX5" fmla="*/ 0 w 4116027"/>
              <a:gd name="connsiteY5" fmla="*/ 5058263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6" fmla="*/ 3295087 w 4116027"/>
              <a:gd name="connsiteY6" fmla="*/ 1530454 h 5058263"/>
              <a:gd name="connsiteX0" fmla="*/ 3203647 w 4116027"/>
              <a:gd name="connsiteY0" fmla="*/ 1439014 h 5058263"/>
              <a:gd name="connsiteX1" fmla="*/ 4116027 w 4116027"/>
              <a:gd name="connsiteY1" fmla="*/ 1439014 h 5058263"/>
              <a:gd name="connsiteX2" fmla="*/ 4116027 w 4116027"/>
              <a:gd name="connsiteY2" fmla="*/ 5058263 h 5058263"/>
              <a:gd name="connsiteX3" fmla="*/ 0 w 4116027"/>
              <a:gd name="connsiteY3" fmla="*/ 5058263 h 5058263"/>
              <a:gd name="connsiteX4" fmla="*/ 0 w 4116027"/>
              <a:gd name="connsiteY4" fmla="*/ 0 h 5058263"/>
              <a:gd name="connsiteX5" fmla="*/ 3203647 w 4116027"/>
              <a:gd name="connsiteY5" fmla="*/ 0 h 5058263"/>
              <a:gd name="connsiteX0" fmla="*/ 4116027 w 4116027"/>
              <a:gd name="connsiteY0" fmla="*/ 1439014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3203647 w 4116027"/>
              <a:gd name="connsiteY4" fmla="*/ 0 h 5058263"/>
              <a:gd name="connsiteX0" fmla="*/ 4110211 w 4116027"/>
              <a:gd name="connsiteY0" fmla="*/ 154939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858576 w 4116027"/>
              <a:gd name="connsiteY4" fmla="*/ 0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556812 w 4116027"/>
              <a:gd name="connsiteY4" fmla="*/ 6142 h 5058263"/>
              <a:gd name="connsiteX0" fmla="*/ 4110211 w 4116027"/>
              <a:gd name="connsiteY0" fmla="*/ 1751767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  <a:gd name="connsiteX0" fmla="*/ 4109005 w 4116027"/>
              <a:gd name="connsiteY0" fmla="*/ 1610052 h 5058263"/>
              <a:gd name="connsiteX1" fmla="*/ 4116027 w 4116027"/>
              <a:gd name="connsiteY1" fmla="*/ 5058263 h 5058263"/>
              <a:gd name="connsiteX2" fmla="*/ 0 w 4116027"/>
              <a:gd name="connsiteY2" fmla="*/ 5058263 h 5058263"/>
              <a:gd name="connsiteX3" fmla="*/ 0 w 4116027"/>
              <a:gd name="connsiteY3" fmla="*/ 0 h 5058263"/>
              <a:gd name="connsiteX4" fmla="*/ 2470533 w 4116027"/>
              <a:gd name="connsiteY4" fmla="*/ 1434 h 505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16027" h="5058263">
                <a:moveTo>
                  <a:pt x="4109005" y="1610052"/>
                </a:moveTo>
                <a:cubicBezTo>
                  <a:pt x="4110944" y="2779674"/>
                  <a:pt x="4114088" y="3888641"/>
                  <a:pt x="4116027" y="5058263"/>
                </a:cubicBezTo>
                <a:lnTo>
                  <a:pt x="0" y="5058263"/>
                </a:lnTo>
                <a:lnTo>
                  <a:pt x="0" y="0"/>
                </a:lnTo>
                <a:lnTo>
                  <a:pt x="2470533" y="1434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BB41D-CE21-9872-0097-FD19050CC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175" y="703736"/>
            <a:ext cx="4285881" cy="1810864"/>
          </a:xfrm>
          <a:noFill/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Board Game Complexity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375E7-B289-8789-C930-5529CF390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927" y="3879273"/>
            <a:ext cx="4403327" cy="1541756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Andy Brandt</a:t>
            </a:r>
          </a:p>
        </p:txBody>
      </p:sp>
    </p:spTree>
    <p:extLst>
      <p:ext uri="{BB962C8B-B14F-4D97-AF65-F5344CB8AC3E}">
        <p14:creationId xmlns:p14="http://schemas.microsoft.com/office/powerpoint/2010/main" val="314265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A23DEB-8494-976C-8FA7-7C45EC4F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84D4F-E728-F537-101D-A741B2EF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Goal of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01B3A-68CA-9469-A5B4-22C3BEEF5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4927861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t-test to determine if on average games receive a rating of 6.5 or higher out of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newer games take longer to play?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newer games more complex than older games?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there a correlation between a game’s complexity and how long it takes to play?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there a correlation between a game’s average rating and its complexity?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75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A23DEB-8494-976C-8FA7-7C45EC4F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D95A4-F0F9-4C48-09B5-D1E74CDCA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A2A99-81C6-93FB-1E40-CCEAA68D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4927861" cy="42188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Taken from Board Game Geek: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19,000+ board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rating from game owners (out of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Board game complexity (out of 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play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 published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23DEB-8494-976C-8FA7-7C45EC4F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24A5C-5D92-768B-BE0C-7E9DC52E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spc="530" dirty="0"/>
              <a:t>Data Summary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D6D358-A223-0DAB-B65D-6FD856FD9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063486"/>
              </p:ext>
            </p:extLst>
          </p:nvPr>
        </p:nvGraphicFramePr>
        <p:xfrm>
          <a:off x="781175" y="1557998"/>
          <a:ext cx="10629648" cy="4958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706">
                  <a:extLst>
                    <a:ext uri="{9D8B030D-6E8A-4147-A177-3AD203B41FA5}">
                      <a16:colId xmlns:a16="http://schemas.microsoft.com/office/drawing/2014/main" val="1627263243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3279247044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2719452727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2827683230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231191096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1740088030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2127063847"/>
                    </a:ext>
                  </a:extLst>
                </a:gridCol>
                <a:gridCol w="1328706">
                  <a:extLst>
                    <a:ext uri="{9D8B030D-6E8A-4147-A177-3AD203B41FA5}">
                      <a16:colId xmlns:a16="http://schemas.microsoft.com/office/drawing/2014/main" val="3141631586"/>
                    </a:ext>
                  </a:extLst>
                </a:gridCol>
              </a:tblGrid>
              <a:tr h="778787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Deviation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008218"/>
                  </a:ext>
                </a:extLst>
              </a:tr>
              <a:tr h="915697">
                <a:tc>
                  <a:txBody>
                    <a:bodyPr/>
                    <a:lstStyle/>
                    <a:p>
                      <a:r>
                        <a:rPr lang="en-US" dirty="0"/>
                        <a:t>Average Rating (/10)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1.050</a:t>
                      </a:r>
                    </a:p>
                    <a:p>
                      <a:r>
                        <a:rPr lang="en-US" sz="1200" dirty="0" err="1"/>
                        <a:t>Oneupmanship</a:t>
                      </a:r>
                      <a:r>
                        <a:rPr lang="en-US" sz="1200" dirty="0"/>
                        <a:t>: Mine's Bigger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5.840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6.440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7.030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9.540</a:t>
                      </a:r>
                    </a:p>
                    <a:p>
                      <a:pPr latinLnBrk="1"/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DEFCON 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92974"/>
                  </a:ext>
                </a:extLst>
              </a:tr>
              <a:tr h="778787">
                <a:tc>
                  <a:txBody>
                    <a:bodyPr/>
                    <a:lstStyle/>
                    <a:p>
                      <a:r>
                        <a:rPr lang="en-US" dirty="0"/>
                        <a:t>Complexity (/5)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1.350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2.560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5.000</a:t>
                      </a:r>
                    </a:p>
                    <a:p>
                      <a:r>
                        <a:rPr lang="en-US" sz="1200" dirty="0"/>
                        <a:t>Empire (Third Edition)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332092"/>
                  </a:ext>
                </a:extLst>
              </a:tr>
              <a:tr h="778787">
                <a:tc>
                  <a:txBody>
                    <a:bodyPr/>
                    <a:lstStyle/>
                    <a:p>
                      <a:r>
                        <a:rPr lang="en-US" dirty="0"/>
                        <a:t>Play Time (Minutes)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  <a:p>
                      <a:r>
                        <a:rPr lang="en-US" sz="1200" dirty="0"/>
                        <a:t>Tic-Tac-Toe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60000</a:t>
                      </a:r>
                    </a:p>
                    <a:p>
                      <a:r>
                        <a:rPr lang="en-US" sz="1200" dirty="0"/>
                        <a:t>The Campaign for North Africa: The Desert War 1940-43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94.99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559.2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882251"/>
                  </a:ext>
                </a:extLst>
              </a:tr>
              <a:tr h="1344208">
                <a:tc>
                  <a:txBody>
                    <a:bodyPr/>
                    <a:lstStyle/>
                    <a:p>
                      <a:r>
                        <a:rPr lang="en-US" dirty="0"/>
                        <a:t>Year Published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-3500</a:t>
                      </a:r>
                    </a:p>
                    <a:p>
                      <a:r>
                        <a:rPr lang="en-US" sz="1200" dirty="0"/>
                        <a:t>Senet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</a:p>
                    <a:p>
                      <a:r>
                        <a:rPr lang="en-US" sz="1200" dirty="0"/>
                        <a:t>The 7th Citadel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2002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28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5B35-C29B-8373-9AEF-125FFEF7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9ABA-8950-862C-0E97-0C6AB5DB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Average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B1CB0-FE5F-3EB2-5448-93D599816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4927861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simplest of the created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Mean: 6.416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Left Skew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games land at about the 6.5/10 rating</a:t>
            </a:r>
          </a:p>
        </p:txBody>
      </p:sp>
      <p:pic>
        <p:nvPicPr>
          <p:cNvPr id="9" name="Picture 8" descr="A graph of a number of games&#10;&#10;AI-generated content may be incorrect.">
            <a:extLst>
              <a:ext uri="{FF2B5EF4-FFF2-40B4-BE49-F238E27FC236}">
                <a16:creationId xmlns:a16="http://schemas.microsoft.com/office/drawing/2014/main" id="{BDC924D5-8362-569E-B4CF-65E9C8CF0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53" y="1084466"/>
            <a:ext cx="4428565" cy="468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2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F1F7-3397-44C9-472C-08D00C700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A797-0B97-2A7F-2916-51C47A3B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Average Complexity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AD572-437F-63B8-D2F6-FE07CEF0A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7" y="1935370"/>
            <a:ext cx="2250774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Mean: 2.034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Right Skew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games have very low complexity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48FB7D-3DCC-5455-978A-A3B7A2346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54" y="1084466"/>
            <a:ext cx="4428563" cy="4689068"/>
          </a:xfrm>
          <a:prstGeom prst="rect">
            <a:avLst/>
          </a:prstGeom>
        </p:spPr>
      </p:pic>
      <p:pic>
        <p:nvPicPr>
          <p:cNvPr id="10" name="Picture 9" descr="A diagram of a game plot&#10;&#10;AI-generated content may be incorrect.">
            <a:extLst>
              <a:ext uri="{FF2B5EF4-FFF2-40B4-BE49-F238E27FC236}">
                <a16:creationId xmlns:a16="http://schemas.microsoft.com/office/drawing/2014/main" id="{744FC02C-5A0C-9DC8-811F-9E60BA418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716" y="2275847"/>
            <a:ext cx="3303371" cy="349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18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3F55-F92F-F3B9-C650-29015DFE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0A1E3-1574-18E4-B3EE-3C48E1BC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Play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37537-4109-1782-1B35-26A6E48D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7" y="1935370"/>
            <a:ext cx="3137680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Mean: </a:t>
            </a:r>
            <a:r>
              <a:rPr lang="en-US" dirty="0">
                <a:solidFill>
                  <a:schemeClr val="dk1"/>
                </a:solidFill>
              </a:rPr>
              <a:t>94.57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Max: 60000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Median: </a:t>
            </a:r>
            <a:r>
              <a:rPr lang="en-US" dirty="0">
                <a:solidFill>
                  <a:schemeClr val="dk1"/>
                </a:solidFill>
              </a:rPr>
              <a:t>45.00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Wildy Skewed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Near unusable due to “campaign” 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4.2% games &gt; 4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0.7% games &gt; 12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0C8FB6-2345-A832-B972-837D8E82E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12581" y="2997052"/>
            <a:ext cx="3303372" cy="34976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7A75FE-3EBC-A861-09AF-B988878E1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9420" y="2997052"/>
            <a:ext cx="3303370" cy="349768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566910-DFE6-F9F4-1CD2-455EB223A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886962"/>
              </p:ext>
            </p:extLst>
          </p:nvPr>
        </p:nvGraphicFramePr>
        <p:xfrm>
          <a:off x="5976257" y="703736"/>
          <a:ext cx="508199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545">
                  <a:extLst>
                    <a:ext uri="{9D8B030D-6E8A-4147-A177-3AD203B41FA5}">
                      <a16:colId xmlns:a16="http://schemas.microsoft.com/office/drawing/2014/main" val="3382815029"/>
                    </a:ext>
                  </a:extLst>
                </a:gridCol>
                <a:gridCol w="1271149">
                  <a:extLst>
                    <a:ext uri="{9D8B030D-6E8A-4147-A177-3AD203B41FA5}">
                      <a16:colId xmlns:a16="http://schemas.microsoft.com/office/drawing/2014/main" val="3746383925"/>
                    </a:ext>
                  </a:extLst>
                </a:gridCol>
                <a:gridCol w="1271149">
                  <a:extLst>
                    <a:ext uri="{9D8B030D-6E8A-4147-A177-3AD203B41FA5}">
                      <a16:colId xmlns:a16="http://schemas.microsoft.com/office/drawing/2014/main" val="4162265409"/>
                    </a:ext>
                  </a:extLst>
                </a:gridCol>
                <a:gridCol w="1271149">
                  <a:extLst>
                    <a:ext uri="{9D8B030D-6E8A-4147-A177-3AD203B41FA5}">
                      <a16:colId xmlns:a16="http://schemas.microsoft.com/office/drawing/2014/main" val="647520027"/>
                    </a:ext>
                  </a:extLst>
                </a:gridCol>
              </a:tblGrid>
              <a:tr h="438310">
                <a:tc>
                  <a:txBody>
                    <a:bodyPr/>
                    <a:lstStyle/>
                    <a:p>
                      <a:r>
                        <a:rPr lang="en-US" dirty="0"/>
                        <a:t>SDs Away from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Entries outside SD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SDs Away from 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Entries Outside 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5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88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804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82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08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726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6185-9861-387F-608B-C7107E77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125E-7ACA-C691-7E1B-93AF22E5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Year Published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6247A-B96E-C35E-5D52-3DD59D265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2597207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Mean: 2002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Left Skew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53 games created before 1750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77 before 1850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200 before 1950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EB051-8CD4-9754-7F4F-226589B94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54" y="1084467"/>
            <a:ext cx="4428563" cy="46890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314054-7C32-EA81-988B-5F62E46DB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8384" y="2275846"/>
            <a:ext cx="3303370" cy="349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7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A23DEB-8494-976C-8FA7-7C45EC4F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0EBE8-FACE-E874-4E64-99DD10C9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T-Test on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75EB7-CEF8-FC7D-19EB-7BBAFA9DF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5314824" cy="42188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would like to believe that most board games are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can be shown if, on average, a board game is ranked at least 6.5 out of 10. I will also test this at a 5% significance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25 randomly chosen games are shown on the right, I will use these to conduct the t-test.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DA37AF-7051-E7B2-749D-EC81968D3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333333"/>
              </p:ext>
            </p:extLst>
          </p:nvPr>
        </p:nvGraphicFramePr>
        <p:xfrm>
          <a:off x="6479676" y="259080"/>
          <a:ext cx="3545109" cy="633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762">
                  <a:extLst>
                    <a:ext uri="{9D8B030D-6E8A-4147-A177-3AD203B41FA5}">
                      <a16:colId xmlns:a16="http://schemas.microsoft.com/office/drawing/2014/main" val="1132620302"/>
                    </a:ext>
                  </a:extLst>
                </a:gridCol>
                <a:gridCol w="759347">
                  <a:extLst>
                    <a:ext uri="{9D8B030D-6E8A-4147-A177-3AD203B41FA5}">
                      <a16:colId xmlns:a16="http://schemas.microsoft.com/office/drawing/2014/main" val="3145409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16839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Snarf 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439781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Malifaux</a:t>
                      </a:r>
                      <a:r>
                        <a:rPr lang="en-US" sz="1000" dirty="0"/>
                        <a:t> (Second Edition)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807068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Bakari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47300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UNO H2O 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34447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Tetris (1989)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747460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Enchanters: Overlords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9659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Agricola: All Creatures Big and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441442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Tranquility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7414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 err="1"/>
                        <a:t>Nichtlustig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90146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Blood 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9810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 err="1"/>
                        <a:t>Hedbanz</a:t>
                      </a:r>
                      <a:r>
                        <a:rPr lang="en-US" sz="1000" dirty="0"/>
                        <a:t> for Adults!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69182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Ticket to Ride: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04449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Star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5015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Terraforming Mars: Ares Expedition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872068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What's He Building in There?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134195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The Estates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364294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Orange 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45880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Barbeque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4840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1000 Bornes 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40248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Espresso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84071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Warhammer Underworlds: </a:t>
                      </a:r>
                      <a:r>
                        <a:rPr lang="en-US" sz="1000" dirty="0" err="1"/>
                        <a:t>Dreadfane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96747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Castle 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366292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On the Hunt for Dinos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838425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Monopoly: The Legend of Zelda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654227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The Whatnot Cabinet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66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06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5186-7EE2-2429-9D99-0BC4F7D2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561-AA6B-D8E2-B24F-F8269A79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T-Test on Rating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0DE06D-467F-1BB0-1F73-C869C0195AC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81176" y="1935370"/>
                <a:ext cx="5314824" cy="4218893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Sample mean: 6.446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Sample standard deviation: 0.9979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</a:t>
                </a:r>
                <a:r>
                  <a:rPr lang="en-US" baseline="-25000" dirty="0"/>
                  <a:t>o</a:t>
                </a:r>
                <a:r>
                  <a:rPr lang="en-US" dirty="0"/>
                  <a:t> = 6.5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</a:t>
                </a:r>
                <a:r>
                  <a:rPr lang="en-US" baseline="-25000" dirty="0"/>
                  <a:t>a</a:t>
                </a:r>
                <a:r>
                  <a:rPr lang="en-US" dirty="0"/>
                  <a:t> &gt; 6.5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6.5−6.446</m:t>
                        </m:r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0.9979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0.2706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P-score </a:t>
                </a:r>
                <a:r>
                  <a:rPr lang="en-US" dirty="0">
                    <a:sym typeface="Symbol" panose="05050102010706020507" pitchFamily="18" charset="2"/>
                  </a:rPr>
                  <a:t> </a:t>
                </a:r>
                <a:r>
                  <a:rPr lang="en-US" dirty="0"/>
                  <a:t>5.750052e-07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Since the p-value &lt; 0.05, we reject H</a:t>
                </a:r>
                <a:r>
                  <a:rPr lang="en-US" baseline="-25000" dirty="0"/>
                  <a:t>o</a:t>
                </a:r>
                <a:r>
                  <a:rPr lang="en-US" dirty="0"/>
                  <a:t> at a 5% significance level. The data provides sufficient evidence to conclude that the average game’s community ranking is greater than 6.5/10.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0DE06D-467F-1BB0-1F73-C869C0195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81176" y="1935370"/>
                <a:ext cx="5314824" cy="4218893"/>
              </a:xfrm>
              <a:blipFill>
                <a:blip r:embed="rId2"/>
                <a:stretch>
                  <a:fillRect l="-688" t="-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FF5BF5-3212-1CC2-3FD9-F01ED0A9384E}"/>
              </a:ext>
            </a:extLst>
          </p:cNvPr>
          <p:cNvGraphicFramePr>
            <a:graphicFrameLocks noGrp="1"/>
          </p:cNvGraphicFramePr>
          <p:nvPr/>
        </p:nvGraphicFramePr>
        <p:xfrm>
          <a:off x="6479676" y="259080"/>
          <a:ext cx="3545109" cy="633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762">
                  <a:extLst>
                    <a:ext uri="{9D8B030D-6E8A-4147-A177-3AD203B41FA5}">
                      <a16:colId xmlns:a16="http://schemas.microsoft.com/office/drawing/2014/main" val="1132620302"/>
                    </a:ext>
                  </a:extLst>
                </a:gridCol>
                <a:gridCol w="759347">
                  <a:extLst>
                    <a:ext uri="{9D8B030D-6E8A-4147-A177-3AD203B41FA5}">
                      <a16:colId xmlns:a16="http://schemas.microsoft.com/office/drawing/2014/main" val="3145409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16839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Snarf 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439781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Malifaux</a:t>
                      </a:r>
                      <a:r>
                        <a:rPr lang="en-US" sz="1000" dirty="0"/>
                        <a:t> (Second Edition)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807068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Bakari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47300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UNO H2O 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234447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Tetris (1989)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747460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Enchanters: Overlords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9659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Agricola: All Creatures Big and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441442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Tranquility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37414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 err="1"/>
                        <a:t>Nichtlustig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90146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Blood 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9810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 err="1"/>
                        <a:t>Hedbanz</a:t>
                      </a:r>
                      <a:r>
                        <a:rPr lang="en-US" sz="1000" dirty="0"/>
                        <a:t> for Adults!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69182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Ticket to Ride: 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304449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Star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5015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Terraforming Mars: Ares Expedition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872068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What's He Building in There?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134195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The Estates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364294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Orange 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45880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Barbeque Party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4840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1000 Bornes 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402486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Espresso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84071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Warhammer Underworlds: </a:t>
                      </a:r>
                      <a:r>
                        <a:rPr lang="en-US" sz="1000" dirty="0" err="1"/>
                        <a:t>Dreadfane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8.05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967473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Castle 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366292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On the Hunt for Dinos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838425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Monopoly: The Legend of Zelda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654227"/>
                  </a:ext>
                </a:extLst>
              </a:tr>
              <a:tr h="171606">
                <a:tc>
                  <a:txBody>
                    <a:bodyPr/>
                    <a:lstStyle/>
                    <a:p>
                      <a:r>
                        <a:rPr lang="en-US" sz="1000" dirty="0"/>
                        <a:t>The Whatnot Cabinet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669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15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A23DEB-8494-976C-8FA7-7C45EC4F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0517F-961A-9CC0-573B-27A70DD3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Correlation</a:t>
            </a:r>
            <a:br>
              <a:rPr lang="en-US" spc="530" dirty="0"/>
            </a:br>
            <a:r>
              <a:rPr lang="en-US" spc="530" dirty="0"/>
              <a:t>Year Vs. Play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3322A4-C31B-D47D-9534-28B370E6D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8716" y="2275847"/>
            <a:ext cx="3303370" cy="3497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0BEB57-3D1E-975F-489D-A64FDE43D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54" y="1084467"/>
            <a:ext cx="4428562" cy="4689066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143DD12-CA5D-2F9E-F5E8-149CA70EE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2597539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Correlation in the slightest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-0.0008690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Lines of dots come from common time  rounding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15 min, 30 mins, 60 mins, etc.</a:t>
            </a:r>
          </a:p>
        </p:txBody>
      </p:sp>
    </p:spTree>
    <p:extLst>
      <p:ext uri="{BB962C8B-B14F-4D97-AF65-F5344CB8AC3E}">
        <p14:creationId xmlns:p14="http://schemas.microsoft.com/office/powerpoint/2010/main" val="348255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D4FB8-D69E-DB6C-D4A3-9CEECD61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022F-26AB-2EB3-CD4F-050CCC40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5" y="703736"/>
            <a:ext cx="5195082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Correlation</a:t>
            </a:r>
            <a:br>
              <a:rPr lang="en-US" spc="530" dirty="0"/>
            </a:br>
            <a:r>
              <a:rPr lang="en-US" spc="530" dirty="0"/>
              <a:t>Year Vs. Complexity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3FE0F-CC93-F141-67F5-97A5A9179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8716" y="2275847"/>
            <a:ext cx="3303369" cy="3497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6F4409-A256-BB75-1BA0-FAB7D7646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54" y="1084467"/>
            <a:ext cx="4428562" cy="4689065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A098E13-933F-7568-BC4C-2E91D0CC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2597539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no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0.006162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will always be a higher concentration of simple games regardless of decade</a:t>
            </a:r>
          </a:p>
        </p:txBody>
      </p:sp>
    </p:spTree>
    <p:extLst>
      <p:ext uri="{BB962C8B-B14F-4D97-AF65-F5344CB8AC3E}">
        <p14:creationId xmlns:p14="http://schemas.microsoft.com/office/powerpoint/2010/main" val="3687661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439B-1DC8-D010-DB73-2C6B7C5C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A545-390A-6D29-4FA3-33A1038E5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4" y="703736"/>
            <a:ext cx="8156569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Linear Regression</a:t>
            </a:r>
            <a:br>
              <a:rPr lang="en-US" spc="530" dirty="0"/>
            </a:br>
            <a:r>
              <a:rPr lang="en-US" spc="530" dirty="0"/>
              <a:t>Play Time Vs. Complexity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59A48-9DFE-EB5E-8356-68D642E93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8716" y="2275847"/>
            <a:ext cx="3303369" cy="3497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25102-4921-727B-8FD0-06F04B883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54" y="1084467"/>
            <a:ext cx="4428561" cy="46890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2">
                <a:extLst>
                  <a:ext uri="{FF2B5EF4-FFF2-40B4-BE49-F238E27FC236}">
                    <a16:creationId xmlns:a16="http://schemas.microsoft.com/office/drawing/2014/main" id="{5C7EB544-C610-C8A5-21E4-2D9B36570AA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81176" y="1935370"/>
                <a:ext cx="2597539" cy="421889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First time we can see the correlation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0.1929 correlation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Y-int: -178.8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Scaler: 134.4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Ŷ=</m:t>
                    </m:r>
                    <m:r>
                      <m:rPr>
                        <m:nor/>
                      </m:rPr>
                      <a:rPr lang="en-US" b="0" i="0" smtClean="0"/>
                      <m:t>-178.8 </m:t>
                    </m:r>
                    <m:r>
                      <m:rPr>
                        <m:nor/>
                      </m:rPr>
                      <a:rPr lang="en-US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139.4</m:t>
                    </m:r>
                    <m:r>
                      <m:rPr>
                        <m:nor/>
                      </m:rPr>
                      <a:rPr lang="en-US"/>
                      <m:t>x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Generally speaking, the more complex a game is, the longer the game is</a:t>
                </a:r>
              </a:p>
            </p:txBody>
          </p:sp>
        </mc:Choice>
        <mc:Fallback>
          <p:sp>
            <p:nvSpPr>
              <p:cNvPr id="11" name="Text Placeholder 2">
                <a:extLst>
                  <a:ext uri="{FF2B5EF4-FFF2-40B4-BE49-F238E27FC236}">
                    <a16:creationId xmlns:a16="http://schemas.microsoft.com/office/drawing/2014/main" id="{5C7EB544-C610-C8A5-21E4-2D9B36570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81176" y="1935370"/>
                <a:ext cx="2597539" cy="4218894"/>
              </a:xfrm>
              <a:blipFill>
                <a:blip r:embed="rId4"/>
                <a:stretch>
                  <a:fillRect l="-1408" r="-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2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E53F-9D93-D7EF-02F2-FC6ADE41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35CB-5FB4-712E-25BA-770CEB83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4" y="703736"/>
            <a:ext cx="8156569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Linear Regression</a:t>
            </a:r>
            <a:br>
              <a:rPr lang="en-US" spc="530" dirty="0"/>
            </a:br>
            <a:r>
              <a:rPr lang="en-US" spc="530" dirty="0"/>
              <a:t>Rating Vs. Complexity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D9A1A2-7FF5-C63C-29C8-CE992941D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54" y="1084467"/>
            <a:ext cx="4428561" cy="4689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2">
                <a:extLst>
                  <a:ext uri="{FF2B5EF4-FFF2-40B4-BE49-F238E27FC236}">
                    <a16:creationId xmlns:a16="http://schemas.microsoft.com/office/drawing/2014/main" id="{FCDB3656-C644-75E6-D217-3A523DFD66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81176" y="1935370"/>
                <a:ext cx="5709001" cy="4218894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Highest correlation we’ve seen!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Correlation coefficient of 0.5116206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Y-intercept: -0.8354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Scaler: 0.4474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Ŷ</m:t>
                    </m:r>
                    <m:r>
                      <m:rPr>
                        <m:nor/>
                      </m:rPr>
                      <a:rPr lang="en-US" b="0" i="0" smtClean="0"/>
                      <m:t>=-0.8354 + 0.4474</m:t>
                    </m:r>
                    <m:r>
                      <m:rPr>
                        <m:nor/>
                      </m:rPr>
                      <a:rPr lang="en-US" b="0" i="0" smtClean="0"/>
                      <m:t>x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If a game’s rating increase by one, on average, the games complexity will increase by about 0.45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11" name="Text Placeholder 2">
                <a:extLst>
                  <a:ext uri="{FF2B5EF4-FFF2-40B4-BE49-F238E27FC236}">
                    <a16:creationId xmlns:a16="http://schemas.microsoft.com/office/drawing/2014/main" id="{FCDB3656-C644-75E6-D217-3A523DFD66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81176" y="1935370"/>
                <a:ext cx="5709001" cy="4218894"/>
              </a:xfrm>
              <a:blipFill>
                <a:blip r:embed="rId3"/>
                <a:stretch>
                  <a:fillRect l="-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75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636CF-9F93-09E1-261D-966FC642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3288-752E-83DF-98D8-BF814DC49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4" y="703736"/>
            <a:ext cx="8156569" cy="12251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pc="530" dirty="0"/>
              <a:t>Conclusion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08B3E4-D199-6FBB-3DC6-AA616C18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176" y="1935370"/>
            <a:ext cx="10666012" cy="4218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seems that the year a game was published has no influence on a game’s complexity or how long it takes to complete the game.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fact, there isn’t even a strong correlation between a game's complexity and its play time, only a loose connection.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only correlation we have is a games rating and how complex the game is. After all, people will get tired of simple game much quicker than they would a game with a lot of moving pieces or difficult mechanics.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22127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Limelight">
      <a:dk1>
        <a:sysClr val="windowText" lastClr="000000"/>
      </a:dk1>
      <a:lt1>
        <a:sysClr val="window" lastClr="FFFFFF"/>
      </a:lt1>
      <a:dk2>
        <a:srgbClr val="23353B"/>
      </a:dk2>
      <a:lt2>
        <a:srgbClr val="E0DDD8"/>
      </a:lt2>
      <a:accent1>
        <a:srgbClr val="90A208"/>
      </a:accent1>
      <a:accent2>
        <a:srgbClr val="6A8755"/>
      </a:accent2>
      <a:accent3>
        <a:srgbClr val="49716B"/>
      </a:accent3>
      <a:accent4>
        <a:srgbClr val="A16F7C"/>
      </a:accent4>
      <a:accent5>
        <a:srgbClr val="B16455"/>
      </a:accent5>
      <a:accent6>
        <a:srgbClr val="E08350"/>
      </a:accent6>
      <a:hlink>
        <a:srgbClr val="5F864B"/>
      </a:hlink>
      <a:folHlink>
        <a:srgbClr val="3F877D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897</Words>
  <Application>Microsoft Office PowerPoint</Application>
  <PresentationFormat>Widescreen</PresentationFormat>
  <Paragraphs>252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Cambria Math</vt:lpstr>
      <vt:lpstr>Symbol</vt:lpstr>
      <vt:lpstr>Trade Gothic Next Cond</vt:lpstr>
      <vt:lpstr>Trade Gothic Next Light</vt:lpstr>
      <vt:lpstr>LimelightVTI</vt:lpstr>
      <vt:lpstr>Board Game Complexity Analysis</vt:lpstr>
      <vt:lpstr>Goal of Analysis</vt:lpstr>
      <vt:lpstr>Dataset</vt:lpstr>
      <vt:lpstr>Data Summary</vt:lpstr>
      <vt:lpstr>Average Rating</vt:lpstr>
      <vt:lpstr>Average Complexity</vt:lpstr>
      <vt:lpstr>Play Time</vt:lpstr>
      <vt:lpstr>Year Published</vt:lpstr>
      <vt:lpstr>T-Test on Rating</vt:lpstr>
      <vt:lpstr>T-Test on Rating</vt:lpstr>
      <vt:lpstr>Correlation Year Vs. Play Time</vt:lpstr>
      <vt:lpstr>Correlation Year Vs. Complexity</vt:lpstr>
      <vt:lpstr>Linear Regression Play Time Vs. Complexity</vt:lpstr>
      <vt:lpstr>Linear Regression Rating Vs. Complexity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Brandt</dc:creator>
  <cp:lastModifiedBy>Andy Brandt</cp:lastModifiedBy>
  <cp:revision>4</cp:revision>
  <dcterms:created xsi:type="dcterms:W3CDTF">2025-12-07T16:45:46Z</dcterms:created>
  <dcterms:modified xsi:type="dcterms:W3CDTF">2025-12-08T00:16:21Z</dcterms:modified>
</cp:coreProperties>
</file>